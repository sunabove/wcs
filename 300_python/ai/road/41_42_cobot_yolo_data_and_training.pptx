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4bd4627-015a-5d4d-1901-81815dcff95c}">
          <p14:sldIdLst>
            <p14:sldId id="256"/>
            <p14:sldId id="257"/>
          </p14:sldIdLst>
        </p14:section>
        <p14:section name="41 · 데이터 준비" id="{1c92c25b-3b51-1e47-6d3e-6767d639611b}">
          <p14:sldIdLst>
            <p14:sldId id="258"/>
            <p14:sldId id="259"/>
            <p14:sldId id="260"/>
            <p14:sldId id="261"/>
            <p14:sldId id="262"/>
          </p14:sldIdLst>
        </p14:section>
        <p14:section name="42 · 학습" id="{f1882efe-e875-2ab8-894b-e1e2035b126c}">
          <p14:sldIdLst>
            <p14:sldId id="263"/>
            <p14:sldId id="264"/>
            <p14:sldId id="265"/>
          </p14:sldIdLst>
        </p14:section>
        <p14:section name="정리" id="{5b9997a0-ac48-691f-e660-d9fba79251e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주행 동영상만 있고 사람이 그린 라벨이 없는 상태에서, 기존 도로 모델로 라벨을 자동 생성(41)하고 그 데이터로 도로 유형 모델을 학습(42)하는 과정을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주의: 파일 상단 주석은 거리 임계값을 1.5로 설명하지만, 실제 코드는 remove_thin_lines(distance_ratio=0.003)로 max(5, 이미지 대각선 × 0.003)을 사용합니다. 640x480 영상이면 5px입니다.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코봇 도로 유형 세그멘테이션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YOLO 데이터 준비와 학습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41_convert_cobot_to_yolo_ds.py  ·  42_train_cobot_road_type_yolo_sg.py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300_python/ai/road</a:t>
            </a:r>
            <a:endParaRPr lang="en-US" sz="1600" dirty="0"/>
          </a:p>
        </p:txBody>
      </p:sp>
      <p:sp>
        <p:nvSpPr>
          <p:cNvPr id="4" name="badge-1"/>
          <p:cNvSpPr/>
          <p:nvPr/>
        </p:nvSpPr>
        <p:spPr>
          <a:xfrm>
            <a:off x="548640" y="731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Text-2"/>
          <p:cNvSpPr txBox="1"/>
          <p:nvPr/>
        </p:nvSpPr>
        <p:spPr>
          <a:xfrm>
            <a:off x="54864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badge-3"/>
          <p:cNvSpPr/>
          <p:nvPr/>
        </p:nvSpPr>
        <p:spPr>
          <a:xfrm>
            <a:off x="1188720" y="731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badgeText-4"/>
          <p:cNvSpPr txBox="1"/>
          <p:nvPr/>
        </p:nvSpPr>
        <p:spPr>
          <a:xfrm>
            <a:off x="118872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전체 흐름: 동영상에서 학습된 모델까지</a:t>
            </a:r>
            <a:endParaRPr lang="en-US" sz="2600" dirty="0"/>
          </a:p>
        </p:txBody>
      </p:sp>
      <p:sp>
        <p:nvSpPr>
          <p:cNvPr id="3" name="card-5"/>
          <p:cNvSpPr/>
          <p:nvPr/>
        </p:nvSpPr>
        <p:spPr>
          <a:xfrm>
            <a:off x="457200" y="141732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badge-6"/>
          <p:cNvSpPr/>
          <p:nvPr/>
        </p:nvSpPr>
        <p:spPr>
          <a:xfrm>
            <a:off x="59436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Text-7"/>
          <p:cNvSpPr txBox="1"/>
          <p:nvPr/>
        </p:nvSpPr>
        <p:spPr>
          <a:xfrm>
            <a:off x="5943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8"/>
          <p:cNvSpPr txBox="1"/>
          <p:nvPr/>
        </p:nvSpPr>
        <p:spPr>
          <a:xfrm>
            <a:off x="59436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주행 동영상</a:t>
            </a:r>
            <a:endParaRPr lang="en-US" sz="1400" dirty="0"/>
          </a:p>
        </p:txBody>
      </p:sp>
      <p:sp>
        <p:nvSpPr>
          <p:cNvPr id="7" name="text-9"/>
          <p:cNvSpPr txBox="1"/>
          <p:nvPr/>
        </p:nvSpPr>
        <p:spPr>
          <a:xfrm>
            <a:off x="59436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dataset/cobot_01/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*.mp4</a:t>
            </a:r>
            <a:endParaRPr lang="en-US" sz="1100" dirty="0"/>
          </a:p>
        </p:txBody>
      </p:sp>
      <p:sp>
        <p:nvSpPr>
          <p:cNvPr id="8" name="arrow-10"/>
          <p:cNvSpPr/>
          <p:nvPr/>
        </p:nvSpPr>
        <p:spPr>
          <a:xfrm>
            <a:off x="1965960" y="2221992"/>
            <a:ext cx="137160" cy="219456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card-11"/>
          <p:cNvSpPr/>
          <p:nvPr/>
        </p:nvSpPr>
        <p:spPr>
          <a:xfrm>
            <a:off x="2148840" y="141732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badge-12"/>
          <p:cNvSpPr/>
          <p:nvPr/>
        </p:nvSpPr>
        <p:spPr>
          <a:xfrm>
            <a:off x="228600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Text-13"/>
          <p:cNvSpPr txBox="1"/>
          <p:nvPr/>
        </p:nvSpPr>
        <p:spPr>
          <a:xfrm>
            <a:off x="2286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14"/>
          <p:cNvSpPr txBox="1"/>
          <p:nvPr/>
        </p:nvSpPr>
        <p:spPr>
          <a:xfrm>
            <a:off x="228600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도로 추론</a:t>
            </a:r>
            <a:endParaRPr lang="en-US" sz="1400" dirty="0"/>
          </a:p>
        </p:txBody>
      </p:sp>
      <p:sp>
        <p:nvSpPr>
          <p:cNvPr id="13" name="text-15"/>
          <p:cNvSpPr txBox="1"/>
          <p:nvPr/>
        </p:nvSpPr>
        <p:spPr>
          <a:xfrm>
            <a:off x="228600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01-yolo11m-road-sg.pt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(road 1클래스)</a:t>
            </a:r>
            <a:endParaRPr lang="en-US" sz="1100" dirty="0"/>
          </a:p>
        </p:txBody>
      </p:sp>
      <p:sp>
        <p:nvSpPr>
          <p:cNvPr id="14" name="arrow-16"/>
          <p:cNvSpPr/>
          <p:nvPr/>
        </p:nvSpPr>
        <p:spPr>
          <a:xfrm>
            <a:off x="3657600" y="2221992"/>
            <a:ext cx="137160" cy="219456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card-17"/>
          <p:cNvSpPr/>
          <p:nvPr/>
        </p:nvSpPr>
        <p:spPr>
          <a:xfrm>
            <a:off x="3840480" y="141732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badge-18"/>
          <p:cNvSpPr/>
          <p:nvPr/>
        </p:nvSpPr>
        <p:spPr>
          <a:xfrm>
            <a:off x="397764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Text-19"/>
          <p:cNvSpPr txBox="1"/>
          <p:nvPr/>
        </p:nvSpPr>
        <p:spPr>
          <a:xfrm>
            <a:off x="3977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-20"/>
          <p:cNvSpPr txBox="1"/>
          <p:nvPr/>
        </p:nvSpPr>
        <p:spPr>
          <a:xfrm>
            <a:off x="397764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마스크 정제</a:t>
            </a:r>
            <a:endParaRPr lang="en-US" sz="1400" dirty="0"/>
          </a:p>
        </p:txBody>
      </p:sp>
      <p:sp>
        <p:nvSpPr>
          <p:cNvPr id="19" name="text-21"/>
          <p:cNvSpPr txBox="1"/>
          <p:nvPr/>
        </p:nvSpPr>
        <p:spPr>
          <a:xfrm>
            <a:off x="397764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노이즈·가는 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제거</a:t>
            </a:r>
            <a:endParaRPr lang="en-US" sz="1100" dirty="0"/>
          </a:p>
        </p:txBody>
      </p:sp>
      <p:sp>
        <p:nvSpPr>
          <p:cNvPr id="20" name="arrow-22"/>
          <p:cNvSpPr/>
          <p:nvPr/>
        </p:nvSpPr>
        <p:spPr>
          <a:xfrm>
            <a:off x="5349240" y="2221992"/>
            <a:ext cx="137160" cy="219456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1" name="card-23"/>
          <p:cNvSpPr/>
          <p:nvPr/>
        </p:nvSpPr>
        <p:spPr>
          <a:xfrm>
            <a:off x="5532120" y="141732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badge-24"/>
          <p:cNvSpPr/>
          <p:nvPr/>
        </p:nvSpPr>
        <p:spPr>
          <a:xfrm>
            <a:off x="566928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badgeText-25"/>
          <p:cNvSpPr txBox="1"/>
          <p:nvPr/>
        </p:nvSpPr>
        <p:spPr>
          <a:xfrm>
            <a:off x="56692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-26"/>
          <p:cNvSpPr txBox="1"/>
          <p:nvPr/>
        </p:nvSpPr>
        <p:spPr>
          <a:xfrm>
            <a:off x="566928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재라벨링</a:t>
            </a:r>
            <a:endParaRPr lang="en-US" sz="1400" dirty="0"/>
          </a:p>
        </p:txBody>
      </p:sp>
      <p:sp>
        <p:nvSpPr>
          <p:cNvPr id="25" name="text-27"/>
          <p:cNvSpPr txBox="1"/>
          <p:nvPr/>
        </p:nvSpPr>
        <p:spPr>
          <a:xfrm>
            <a:off x="566928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파일명의 class로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YOLO 라벨 저장</a:t>
            </a:r>
            <a:endParaRPr lang="en-US" sz="1100" dirty="0"/>
          </a:p>
        </p:txBody>
      </p:sp>
      <p:sp>
        <p:nvSpPr>
          <p:cNvPr id="26" name="arrow-28"/>
          <p:cNvSpPr/>
          <p:nvPr/>
        </p:nvSpPr>
        <p:spPr>
          <a:xfrm>
            <a:off x="7040880" y="2221992"/>
            <a:ext cx="137160" cy="219456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7" name="card-29"/>
          <p:cNvSpPr/>
          <p:nvPr/>
        </p:nvSpPr>
        <p:spPr>
          <a:xfrm>
            <a:off x="7223760" y="141732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28" name="badge-30"/>
          <p:cNvSpPr/>
          <p:nvPr/>
        </p:nvSpPr>
        <p:spPr>
          <a:xfrm>
            <a:off x="736092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badgeText-31"/>
          <p:cNvSpPr txBox="1"/>
          <p:nvPr/>
        </p:nvSpPr>
        <p:spPr>
          <a:xfrm>
            <a:off x="7360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-32"/>
          <p:cNvSpPr txBox="1"/>
          <p:nvPr/>
        </p:nvSpPr>
        <p:spPr>
          <a:xfrm>
            <a:off x="7360920" y="2057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모델 학습</a:t>
            </a:r>
            <a:endParaRPr lang="en-US" sz="1400" dirty="0"/>
          </a:p>
        </p:txBody>
      </p:sp>
      <p:sp>
        <p:nvSpPr>
          <p:cNvPr id="31" name="text-33"/>
          <p:cNvSpPr txBox="1"/>
          <p:nvPr/>
        </p:nvSpPr>
        <p:spPr>
          <a:xfrm>
            <a:off x="736092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yolo11m-seg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→ 02-...-sg.pt</a:t>
            </a:r>
            <a:endParaRPr lang="en-US" sz="1100" dirty="0"/>
          </a:p>
        </p:txBody>
      </p:sp>
      <p:sp>
        <p:nvSpPr>
          <p:cNvPr id="32" name="card-34"/>
          <p:cNvSpPr/>
          <p:nvPr/>
        </p:nvSpPr>
        <p:spPr>
          <a:xfrm>
            <a:off x="457200" y="3520440"/>
            <a:ext cx="6537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33" name="text-35"/>
          <p:cNvSpPr txBox="1"/>
          <p:nvPr/>
        </p:nvSpPr>
        <p:spPr>
          <a:xfrm>
            <a:off x="594360" y="35204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41_convert_cobot_to_yolo_ds.py   — 1~4단계: 라벨 없는 동영상 → YOLO seg 데이터셋</a:t>
            </a:r>
            <a:endParaRPr lang="en-US" sz="1200" dirty="0"/>
          </a:p>
        </p:txBody>
      </p:sp>
      <p:sp>
        <p:nvSpPr>
          <p:cNvPr id="34" name="card-36"/>
          <p:cNvSpPr/>
          <p:nvPr/>
        </p:nvSpPr>
        <p:spPr>
          <a:xfrm>
            <a:off x="7223760" y="352044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35" name="text-37"/>
          <p:cNvSpPr txBox="1"/>
          <p:nvPr/>
        </p:nvSpPr>
        <p:spPr>
          <a:xfrm>
            <a:off x="726948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42_train_...py</a:t>
            </a:r>
            <a:endParaRPr lang="en-US" sz="1200" dirty="0"/>
          </a:p>
        </p:txBody>
      </p:sp>
      <p:sp>
        <p:nvSpPr>
          <p:cNvPr id="36" name="text-38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핵심: 사람이 그린 라벨 없이, “어디가 도로인가”는 기존 모델이, “어떤 도로인가”는 파일명이 알려 준다.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입력 규칙: 파일명이 곧 라벨이다</a:t>
            </a:r>
            <a:endParaRPr lang="en-US" sz="2600" dirty="0"/>
          </a:p>
        </p:txBody>
      </p:sp>
      <p:sp>
        <p:nvSpPr>
          <p:cNvPr id="3" name="card-39"/>
          <p:cNvSpPr/>
          <p:nvPr/>
        </p:nvSpPr>
        <p:spPr>
          <a:xfrm>
            <a:off x="457200" y="1143000"/>
            <a:ext cx="4663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4" name="text-40"/>
          <p:cNvSpPr txBox="1"/>
          <p:nvPr/>
        </p:nvSpPr>
        <p:spPr>
          <a:xfrm>
            <a:off x="64008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동영상 파일명 형식</a:t>
            </a:r>
            <a:endParaRPr lang="en-US" sz="1400" dirty="0"/>
          </a:p>
        </p:txBody>
      </p:sp>
      <p:sp>
        <p:nvSpPr>
          <p:cNvPr id="5" name="seg-41"/>
          <p:cNvSpPr/>
          <p:nvPr/>
        </p:nvSpPr>
        <p:spPr>
          <a:xfrm>
            <a:off x="640080" y="1737360"/>
            <a:ext cx="14173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6" name="text-42"/>
          <p:cNvSpPr txBox="1"/>
          <p:nvPr/>
        </p:nvSpPr>
        <p:spPr>
          <a:xfrm>
            <a:off x="640080" y="1737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{class_name}</a:t>
            </a:r>
            <a:endParaRPr lang="en-US" sz="1100" dirty="0"/>
          </a:p>
        </p:txBody>
      </p:sp>
      <p:sp>
        <p:nvSpPr>
          <p:cNvPr id="7" name="seg-43"/>
          <p:cNvSpPr/>
          <p:nvPr/>
        </p:nvSpPr>
        <p:spPr>
          <a:xfrm>
            <a:off x="2093976" y="1737360"/>
            <a:ext cx="914400" cy="384048"/>
          </a:xfrm>
          <a:prstGeom prst="roundRect">
            <a:avLst>
              <a:gd name="adj" fmla="val 11905"/>
            </a:avLst>
          </a:prstGeom>
          <a:solidFill>
            <a:schemeClr val="accent5"/>
          </a:solidFill>
          <a:ln/>
        </p:spPr>
      </p:sp>
      <p:sp>
        <p:nvSpPr>
          <p:cNvPr id="8" name="text-44"/>
          <p:cNvSpPr txBox="1"/>
          <p:nvPr/>
        </p:nvSpPr>
        <p:spPr>
          <a:xfrm>
            <a:off x="2093976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{index}</a:t>
            </a:r>
            <a:endParaRPr lang="en-US" sz="1100" dirty="0"/>
          </a:p>
        </p:txBody>
      </p:sp>
      <p:sp>
        <p:nvSpPr>
          <p:cNvPr id="9" name="seg-45"/>
          <p:cNvSpPr/>
          <p:nvPr/>
        </p:nvSpPr>
        <p:spPr>
          <a:xfrm>
            <a:off x="3044952" y="1737360"/>
            <a:ext cx="1783080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10" name="text-46"/>
          <p:cNvSpPr txBox="1"/>
          <p:nvPr/>
        </p:nvSpPr>
        <p:spPr>
          <a:xfrm>
            <a:off x="3044952" y="1737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{train|val|test}</a:t>
            </a:r>
            <a:endParaRPr lang="en-US" sz="1100" dirty="0"/>
          </a:p>
        </p:txBody>
      </p:sp>
      <p:sp>
        <p:nvSpPr>
          <p:cNvPr id="11" name="text-47"/>
          <p:cNvSpPr txBox="1"/>
          <p:nvPr/>
        </p:nvSpPr>
        <p:spPr>
          <a:xfrm>
            <a:off x="640080" y="2286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노랑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클래스명 — 이 영상의 모든 도로 영역에 붙는 라벨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청록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split — 영상 단위로 train/val/test 고정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접미사가 없으면 프레임 단위 무작위 분할 (8:1:1, seed 42)</a:t>
            </a:r>
            <a:endParaRPr lang="en-US" sz="1100" dirty="0"/>
          </a:p>
        </p:txBody>
      </p:sp>
      <p:sp>
        <p:nvSpPr>
          <p:cNvPr id="12" name="card-48"/>
          <p:cNvSpPr/>
          <p:nvPr/>
        </p:nvSpPr>
        <p:spPr>
          <a:xfrm>
            <a:off x="5349240" y="1143000"/>
            <a:ext cx="33375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3" name="text-49"/>
          <p:cNvSpPr txBox="1"/>
          <p:nvPr/>
        </p:nvSpPr>
        <p:spPr>
          <a:xfrm>
            <a:off x="553212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_colormap_road.txt</a:t>
            </a:r>
            <a:endParaRPr lang="en-US" sz="1400" dirty="0"/>
          </a:p>
        </p:txBody>
      </p:sp>
      <p:sp>
        <p:nvSpPr>
          <p:cNvPr id="14" name="codeBg-50"/>
          <p:cNvSpPr/>
          <p:nvPr/>
        </p:nvSpPr>
        <p:spPr>
          <a:xfrm>
            <a:off x="5532120" y="1691640"/>
            <a:ext cx="297180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5" name="code-51"/>
          <p:cNvSpPr txBox="1"/>
          <p:nvPr/>
        </p:nvSpPr>
        <p:spPr>
          <a:xfrm>
            <a:off x="5669280" y="17830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class_name R G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&lt;class_a&gt;  128 64 128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&lt;class_b&gt;  244 35 232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16" name="text-52"/>
          <p:cNvSpPr txBox="1"/>
          <p:nvPr/>
        </p:nvSpPr>
        <p:spPr>
          <a:xfrm>
            <a:off x="553212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클래스 id 순서 = 파일 내 순서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(입력 영상에 있는 클래스만 사용)</a:t>
            </a:r>
            <a:endParaRPr lang="en-US" sz="1100" dirty="0"/>
          </a:p>
        </p:txBody>
      </p:sp>
      <p:sp>
        <p:nvSpPr>
          <p:cNvPr id="17" name="text-53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파일 탐색 순서</a:t>
            </a:r>
            <a:endParaRPr lang="en-US" sz="1400" dirty="0"/>
          </a:p>
        </p:txBody>
      </p:sp>
      <p:sp>
        <p:nvSpPr>
          <p:cNvPr id="18" name="text-54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colormap: cobot_01/_colormap_road.txt → --colormap 지정 경로 → 300_python/_colormap_road.txt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파일명 클래스가 colormap에 없으면 KeyError로 즉시 중단 — 라벨 누락을 조용히 넘기지 않음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자동 라벨링: 위치는 모델이, 종류는 파일명이</a:t>
            </a:r>
            <a:endParaRPr lang="en-US" sz="2600" dirty="0"/>
          </a:p>
        </p:txBody>
      </p:sp>
      <p:sp>
        <p:nvSpPr>
          <p:cNvPr id="3" name="card-55"/>
          <p:cNvSpPr/>
          <p:nvPr/>
        </p:nvSpPr>
        <p:spPr>
          <a:xfrm>
            <a:off x="457200" y="11887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text-56"/>
          <p:cNvSpPr txBox="1"/>
          <p:nvPr/>
        </p:nvSpPr>
        <p:spPr>
          <a:xfrm>
            <a:off x="64008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어디가 도로인가?</a:t>
            </a:r>
            <a:endParaRPr lang="en-US" sz="1600" dirty="0"/>
          </a:p>
        </p:txBody>
      </p:sp>
      <p:sp>
        <p:nvSpPr>
          <p:cNvPr id="5" name="text-57"/>
          <p:cNvSpPr txBox="1"/>
          <p:nvPr/>
        </p:nvSpPr>
        <p:spPr>
          <a:xfrm>
            <a:off x="64008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01-yolo11m-road-sg.pt</a:t>
            </a:r>
            <a:endParaRPr lang="en-US" sz="1100" dirty="0"/>
          </a:p>
        </p:txBody>
      </p:sp>
      <p:sp>
        <p:nvSpPr>
          <p:cNvPr id="6" name="text-58"/>
          <p:cNvSpPr txBox="1"/>
          <p:nvPr/>
        </p:nvSpPr>
        <p:spPr>
          <a:xfrm>
            <a:off x="640080" y="21945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기존 도로 세그멘테이션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모델로 프레임마다 추론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· 출력 클래스: road 하나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· conf 0.001로 후보를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 넓게 받음</a:t>
            </a:r>
            <a:endParaRPr lang="en-US" sz="1200" dirty="0"/>
          </a:p>
        </p:txBody>
      </p:sp>
      <p:sp>
        <p:nvSpPr>
          <p:cNvPr id="7" name="text-59"/>
          <p:cNvSpPr txBox="1"/>
          <p:nvPr/>
        </p:nvSpPr>
        <p:spPr>
          <a:xfrm>
            <a:off x="2971800" y="22860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+</a:t>
            </a:r>
            <a:endParaRPr lang="en-US" sz="2600" dirty="0"/>
          </a:p>
        </p:txBody>
      </p:sp>
      <p:sp>
        <p:nvSpPr>
          <p:cNvPr id="8" name="card-60"/>
          <p:cNvSpPr/>
          <p:nvPr/>
        </p:nvSpPr>
        <p:spPr>
          <a:xfrm>
            <a:off x="3314700" y="11887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9" name="text-61"/>
          <p:cNvSpPr txBox="1"/>
          <p:nvPr/>
        </p:nvSpPr>
        <p:spPr>
          <a:xfrm>
            <a:off x="349758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어떤 도로인가?</a:t>
            </a:r>
            <a:endParaRPr lang="en-US" sz="1600" dirty="0"/>
          </a:p>
        </p:txBody>
      </p:sp>
      <p:sp>
        <p:nvSpPr>
          <p:cNvPr id="10" name="text-62"/>
          <p:cNvSpPr txBox="1"/>
          <p:nvPr/>
        </p:nvSpPr>
        <p:spPr>
          <a:xfrm>
            <a:off x="349758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{class_name}_…mp4</a:t>
            </a:r>
            <a:endParaRPr lang="en-US" sz="1100" dirty="0"/>
          </a:p>
        </p:txBody>
      </p:sp>
      <p:sp>
        <p:nvSpPr>
          <p:cNvPr id="11" name="text-63"/>
          <p:cNvSpPr txBox="1"/>
          <p:nvPr/>
        </p:nvSpPr>
        <p:spPr>
          <a:xfrm>
            <a:off x="3497580" y="21945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한 영상 = 한 가지 도로 유형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· 파일명 클래스를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 영상 전체에 적용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· colormap 순서로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 target id 부여</a:t>
            </a:r>
            <a:endParaRPr lang="en-US" sz="1200" dirty="0"/>
          </a:p>
        </p:txBody>
      </p:sp>
      <p:sp>
        <p:nvSpPr>
          <p:cNvPr id="12" name="text-64"/>
          <p:cNvSpPr txBox="1"/>
          <p:nvPr/>
        </p:nvSpPr>
        <p:spPr>
          <a:xfrm>
            <a:off x="5829300" y="22860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=</a:t>
            </a:r>
            <a:endParaRPr lang="en-US" sz="2600" dirty="0"/>
          </a:p>
        </p:txBody>
      </p:sp>
      <p:sp>
        <p:nvSpPr>
          <p:cNvPr id="13" name="card-65"/>
          <p:cNvSpPr/>
          <p:nvPr/>
        </p:nvSpPr>
        <p:spPr>
          <a:xfrm>
            <a:off x="6172200" y="11887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accent2"/>
          </a:solidFill>
          <a:ln/>
        </p:spPr>
      </p:sp>
      <p:sp>
        <p:nvSpPr>
          <p:cNvPr id="14" name="text-66"/>
          <p:cNvSpPr txBox="1"/>
          <p:nvPr/>
        </p:nvSpPr>
        <p:spPr>
          <a:xfrm>
            <a:off x="635508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YOLO 라벨</a:t>
            </a:r>
            <a:endParaRPr lang="en-US" sz="1600" dirty="0"/>
          </a:p>
        </p:txBody>
      </p:sp>
      <p:sp>
        <p:nvSpPr>
          <p:cNvPr id="15" name="text-67"/>
          <p:cNvSpPr txBox="1"/>
          <p:nvPr/>
        </p:nvSpPr>
        <p:spPr>
          <a:xfrm>
            <a:off x="635508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labels/…/*.txt</a:t>
            </a:r>
            <a:endParaRPr lang="en-US" sz="1100" dirty="0"/>
          </a:p>
        </p:txBody>
      </p:sp>
      <p:sp>
        <p:nvSpPr>
          <p:cNvPr id="16" name="text-68"/>
          <p:cNvSpPr txBox="1"/>
          <p:nvPr/>
        </p:nvSpPr>
        <p:spPr>
          <a:xfrm>
            <a:off x="6355080" y="21945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road 폴리곤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+ 파일명 클래스 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= 도로 유형 라벨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(수작업 라벨링 0건)</a:t>
            </a:r>
            <a:endParaRPr lang="en-US" sz="1200" dirty="0"/>
          </a:p>
        </p:txBody>
      </p:sp>
      <p:sp>
        <p:nvSpPr>
          <p:cNvPr id="17" name="text-6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전제: 한 영상 안에 도로 유형이 섞이지 않아야 한다. 섞이면 라벨이 그대로 오염된다.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마스크 정제 4단계</a:t>
            </a:r>
            <a:endParaRPr lang="en-US" sz="2600" dirty="0"/>
          </a:p>
        </p:txBody>
      </p:sp>
      <p:sp>
        <p:nvSpPr>
          <p:cNvPr id="3" name="card-70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badge-71"/>
          <p:cNvSpPr/>
          <p:nvPr/>
        </p:nvSpPr>
        <p:spPr>
          <a:xfrm>
            <a:off x="594360" y="1225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Text-72"/>
          <p:cNvSpPr txBox="1"/>
          <p:nvPr/>
        </p:nvSpPr>
        <p:spPr>
          <a:xfrm>
            <a:off x="59436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73"/>
          <p:cNvSpPr txBox="1"/>
          <p:nvPr/>
        </p:nvSpPr>
        <p:spPr>
          <a:xfrm>
            <a:off x="1143000" y="1097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클래스 필터</a:t>
            </a:r>
            <a:endParaRPr lang="en-US" sz="1400" dirty="0"/>
          </a:p>
        </p:txBody>
      </p:sp>
      <p:sp>
        <p:nvSpPr>
          <p:cNvPr id="7" name="text-74"/>
          <p:cNvSpPr txBox="1"/>
          <p:nvPr/>
        </p:nvSpPr>
        <p:spPr>
          <a:xfrm>
            <a:off x="274320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모델 결과 중 road 클래스만 유지</a:t>
            </a:r>
            <a:endParaRPr lang="en-US" sz="1200" dirty="0"/>
          </a:p>
        </p:txBody>
      </p:sp>
      <p:sp>
        <p:nvSpPr>
          <p:cNvPr id="8" name="text-75"/>
          <p:cNvSpPr txBox="1"/>
          <p:nvPr/>
        </p:nvSpPr>
        <p:spPr>
          <a:xfrm>
            <a:off x="649224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road 클래스가 없으면 경고 후 전체 사용</a:t>
            </a:r>
            <a:endParaRPr lang="en-US" sz="1100" dirty="0"/>
          </a:p>
        </p:txBody>
      </p:sp>
      <p:sp>
        <p:nvSpPr>
          <p:cNvPr id="9" name="card-7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badge-77"/>
          <p:cNvSpPr/>
          <p:nvPr/>
        </p:nvSpPr>
        <p:spPr>
          <a:xfrm>
            <a:off x="594360" y="20025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Text-78"/>
          <p:cNvSpPr txBox="1"/>
          <p:nvPr/>
        </p:nvSpPr>
        <p:spPr>
          <a:xfrm>
            <a:off x="5943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79"/>
          <p:cNvSpPr txBox="1"/>
          <p:nvPr/>
        </p:nvSpPr>
        <p:spPr>
          <a:xfrm>
            <a:off x="114300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신뢰도 필터</a:t>
            </a:r>
            <a:endParaRPr lang="en-US" sz="1400" dirty="0"/>
          </a:p>
        </p:txBody>
      </p:sp>
      <p:sp>
        <p:nvSpPr>
          <p:cNvPr id="13" name="text-80"/>
          <p:cNvSpPr txBox="1"/>
          <p:nvPr/>
        </p:nvSpPr>
        <p:spPr>
          <a:xfrm>
            <a:off x="274320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폴리곤이 2개 이상이면 conf ≥ 평균인 것만 유지</a:t>
            </a:r>
            <a:endParaRPr lang="en-US" sz="1200" dirty="0"/>
          </a:p>
        </p:txBody>
      </p:sp>
      <p:sp>
        <p:nvSpPr>
          <p:cNvPr id="14" name="text-81"/>
          <p:cNvSpPr txBox="1"/>
          <p:nvPr/>
        </p:nvSpPr>
        <p:spPr>
          <a:xfrm>
            <a:off x="6492240" y="1874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1개면 그대로 사용</a:t>
            </a:r>
            <a:endParaRPr lang="en-US" sz="1100" dirty="0"/>
          </a:p>
        </p:txBody>
      </p:sp>
      <p:sp>
        <p:nvSpPr>
          <p:cNvPr id="15" name="card-82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badge-83"/>
          <p:cNvSpPr/>
          <p:nvPr/>
        </p:nvSpPr>
        <p:spPr>
          <a:xfrm>
            <a:off x="594360" y="27797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Text-84"/>
          <p:cNvSpPr txBox="1"/>
          <p:nvPr/>
        </p:nvSpPr>
        <p:spPr>
          <a:xfrm>
            <a:off x="5943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-85"/>
          <p:cNvSpPr txBox="1"/>
          <p:nvPr/>
        </p:nvSpPr>
        <p:spPr>
          <a:xfrm>
            <a:off x="11430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연결 성분 제거</a:t>
            </a:r>
            <a:endParaRPr lang="en-US" sz="1400" dirty="0"/>
          </a:p>
        </p:txBody>
      </p:sp>
      <p:sp>
        <p:nvSpPr>
          <p:cNvPr id="19" name="text-86"/>
          <p:cNvSpPr txBox="1"/>
          <p:nvPr/>
        </p:nvSpPr>
        <p:spPr>
          <a:xfrm>
            <a:off x="2743200" y="2651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connectedComponentsWithStats — 전체 면적의 10% 이하 조각 제거</a:t>
            </a:r>
            <a:endParaRPr lang="en-US" sz="1200" dirty="0"/>
          </a:p>
        </p:txBody>
      </p:sp>
      <p:sp>
        <p:nvSpPr>
          <p:cNvPr id="20" name="text-87"/>
          <p:cNvSpPr txBox="1"/>
          <p:nvPr/>
        </p:nvSpPr>
        <p:spPr>
          <a:xfrm>
            <a:off x="6492240" y="2651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흩어진 작은 노이즈 섬 제거</a:t>
            </a:r>
            <a:endParaRPr lang="en-US" sz="1100" dirty="0"/>
          </a:p>
        </p:txBody>
      </p:sp>
      <p:sp>
        <p:nvSpPr>
          <p:cNvPr id="21" name="card-88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badge-89"/>
          <p:cNvSpPr/>
          <p:nvPr/>
        </p:nvSpPr>
        <p:spPr>
          <a:xfrm>
            <a:off x="594360" y="35570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badgeText-90"/>
          <p:cNvSpPr txBox="1"/>
          <p:nvPr/>
        </p:nvSpPr>
        <p:spPr>
          <a:xfrm>
            <a:off x="59436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-91"/>
          <p:cNvSpPr txBox="1"/>
          <p:nvPr/>
        </p:nvSpPr>
        <p:spPr>
          <a:xfrm>
            <a:off x="1143000" y="3429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가는 선 제거</a:t>
            </a:r>
            <a:endParaRPr lang="en-US" sz="1400" dirty="0"/>
          </a:p>
        </p:txBody>
      </p:sp>
      <p:sp>
        <p:nvSpPr>
          <p:cNvPr id="25" name="text-92"/>
          <p:cNvSpPr txBox="1"/>
          <p:nvPr/>
        </p:nvSpPr>
        <p:spPr>
          <a:xfrm>
            <a:off x="274320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distanceTransform(L2) — 경계까지 거리 &lt; 임계값인 픽셀 제거</a:t>
            </a:r>
            <a:endParaRPr lang="en-US" sz="1200" dirty="0"/>
          </a:p>
        </p:txBody>
      </p:sp>
      <p:sp>
        <p:nvSpPr>
          <p:cNvPr id="26" name="text-93"/>
          <p:cNvSpPr txBox="1"/>
          <p:nvPr/>
        </p:nvSpPr>
        <p:spPr>
          <a:xfrm>
            <a:off x="6492240" y="3429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임계값 = max(5, 대각선 × 0.003) px</a:t>
            </a:r>
            <a:endParaRPr lang="en-US" sz="1100" dirty="0"/>
          </a:p>
        </p:txBody>
      </p:sp>
      <p:sp>
        <p:nvSpPr>
          <p:cNvPr id="27" name="text-9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마지막으로 min-area(기본 20px²) 미만 윤곽선을 버리고, 정제된 마스크에서 폴리곤을 다시 추출합니다.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출력: YOLO 세그멘테이션 데이터셋</a:t>
            </a:r>
            <a:endParaRPr lang="en-US" sz="2600" dirty="0"/>
          </a:p>
        </p:txBody>
      </p:sp>
      <p:sp>
        <p:nvSpPr>
          <p:cNvPr id="3" name="codeBg-95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4" name="code-96"/>
          <p:cNvSpPr txBox="1"/>
          <p:nvPr/>
        </p:nvSpPr>
        <p:spPr>
          <a:xfrm>
            <a:off x="594360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dataset/cobot_01_yolo_seg/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images/{train,val,test}/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&lt;stem&gt;_&lt;frame:06d&gt;.png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labels/{train,val,test}/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&lt;stem&gt;_&lt;frame:06d&gt;.txt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masks/{train,val,test}/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&lt;stem&gt;_&lt;frame:06d&gt;.png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dataset.yaml</a:t>
            </a:r>
            <a:endParaRPr lang="en-US" sz="1200" dirty="0"/>
          </a:p>
        </p:txBody>
      </p:sp>
      <p:sp>
        <p:nvSpPr>
          <p:cNvPr id="5" name="text-97"/>
          <p:cNvSpPr txBox="1"/>
          <p:nvPr/>
        </p:nvSpPr>
        <p:spPr>
          <a:xfrm>
            <a:off x="45720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images 원본 프레임 · labels YOLO 폴리곤 · masks 확인용 컬러 마스크(흰 배경)</a:t>
            </a:r>
            <a:endParaRPr lang="en-US" sz="1100" dirty="0"/>
          </a:p>
        </p:txBody>
      </p:sp>
      <p:sp>
        <p:nvSpPr>
          <p:cNvPr id="6" name="text-98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라벨 한 줄 = 폴리곤 하나</a:t>
            </a:r>
            <a:endParaRPr lang="en-US" sz="1400" dirty="0"/>
          </a:p>
        </p:txBody>
      </p:sp>
      <p:sp>
        <p:nvSpPr>
          <p:cNvPr id="7" name="codeBg-99"/>
          <p:cNvSpPr/>
          <p:nvPr/>
        </p:nvSpPr>
        <p:spPr>
          <a:xfrm>
            <a:off x="4663440" y="1463040"/>
            <a:ext cx="402336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code-100"/>
          <p:cNvSpPr txBox="1"/>
          <p:nvPr/>
        </p:nvSpPr>
        <p:spPr>
          <a:xfrm>
            <a:off x="48006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&lt;class_id&gt; x1 y1 x2 y2 x3 y3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0 0.0125 0.9958 0.4312 0.5021 ...</a:t>
            </a:r>
            <a:endParaRPr lang="en-US" sz="1000" dirty="0"/>
          </a:p>
        </p:txBody>
      </p:sp>
      <p:sp>
        <p:nvSpPr>
          <p:cNvPr id="9" name="text-101"/>
          <p:cNvSpPr txBox="1"/>
          <p:nvPr/>
        </p:nvSpPr>
        <p:spPr>
          <a:xfrm>
            <a:off x="466344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좌표는 이미지 폭·높이로 0~1 정규화, 소수점 6자리</a:t>
            </a:r>
            <a:endParaRPr lang="en-US" sz="1100" dirty="0"/>
          </a:p>
        </p:txBody>
      </p:sp>
      <p:sp>
        <p:nvSpPr>
          <p:cNvPr id="10" name="text-102"/>
          <p:cNvSpPr txBox="1"/>
          <p:nvPr/>
        </p:nvSpPr>
        <p:spPr>
          <a:xfrm>
            <a:off x="466344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dataset.yaml (42가 읽는 파일)</a:t>
            </a:r>
            <a:endParaRPr lang="en-US" sz="1400" dirty="0"/>
          </a:p>
        </p:txBody>
      </p:sp>
      <p:sp>
        <p:nvSpPr>
          <p:cNvPr id="11" name="codeBg-103"/>
          <p:cNvSpPr/>
          <p:nvPr/>
        </p:nvSpPr>
        <p:spPr>
          <a:xfrm>
            <a:off x="4663440" y="301752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2" name="code-104"/>
          <p:cNvSpPr txBox="1"/>
          <p:nvPr/>
        </p:nvSpPr>
        <p:spPr>
          <a:xfrm>
            <a:off x="4800600" y="31089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.../cobot_01_yolo_seg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images/train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images/val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images/test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nc: &lt;클래스 수&gt;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names: [...]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41 실행과 주요 옵션</a:t>
            </a:r>
            <a:endParaRPr lang="en-US" sz="2600" dirty="0"/>
          </a:p>
        </p:txBody>
      </p:sp>
      <p:sp>
        <p:nvSpPr>
          <p:cNvPr id="3" name="codeBg-105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code-106"/>
          <p:cNvSpPr txBox="1"/>
          <p:nvPr/>
        </p:nvSpPr>
        <p:spPr>
          <a:xfrm>
            <a:off x="594360" y="1143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300_python\ai\road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41_convert_cobot_to_yolo_ds.py --frame-step 5</a:t>
            </a:r>
            <a:endParaRPr lang="en-US" sz="1100" dirty="0"/>
          </a:p>
        </p:txBody>
      </p:sp>
      <p:graphicFrame>
        <p:nvGraphicFramePr>
          <p:cNvPr id="8" name="table-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옵션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기본값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--cobot-root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dataset/cobot_01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입력 동영상 폴더 (하위 폴더까지 *.mp4 탐색)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--output-root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dataset/cobot_01_yolo_seg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출력 폴더 — 실행 시 기존 내용을 삭제 후 재생성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--model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model/01-yolo11m-road-sg.pt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도로 영역 추론 모델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--frame-step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 프레임마다 1장 추출 (1 = 전 프레임)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--conf-threshold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모델 추론 최소 신뢰도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--min-area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폴리곤 최소 픽셀 면적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--train/val-ratio, --seed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 / 0.1, 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파일명에 split이 없을 때만 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42 학습 설정</a:t>
            </a:r>
            <a:endParaRPr lang="en-US" sz="2600" dirty="0"/>
          </a:p>
        </p:txBody>
      </p:sp>
      <p:sp>
        <p:nvSpPr>
          <p:cNvPr id="3" name="card-108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text-109"/>
          <p:cNvSpPr txBox="1"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100</a:t>
            </a:r>
            <a:endParaRPr lang="en-US" sz="4000" dirty="0"/>
          </a:p>
        </p:txBody>
      </p:sp>
      <p:sp>
        <p:nvSpPr>
          <p:cNvPr id="5" name="text-110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200" dirty="0"/>
          </a:p>
        </p:txBody>
      </p:sp>
      <p:sp>
        <p:nvSpPr>
          <p:cNvPr id="6" name="card-111"/>
          <p:cNvSpPr/>
          <p:nvPr/>
        </p:nvSpPr>
        <p:spPr>
          <a:xfrm>
            <a:off x="256032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-112"/>
          <p:cNvSpPr txBox="1"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640</a:t>
            </a:r>
            <a:endParaRPr lang="en-US" sz="4000" dirty="0"/>
          </a:p>
        </p:txBody>
      </p:sp>
      <p:sp>
        <p:nvSpPr>
          <p:cNvPr id="8" name="text-113"/>
          <p:cNvSpPr txBox="1"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imgsz</a:t>
            </a:r>
            <a:endParaRPr lang="en-US" sz="1200" dirty="0"/>
          </a:p>
        </p:txBody>
      </p:sp>
      <p:sp>
        <p:nvSpPr>
          <p:cNvPr id="9" name="card-114"/>
          <p:cNvSpPr/>
          <p:nvPr/>
        </p:nvSpPr>
        <p:spPr>
          <a:xfrm>
            <a:off x="466344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ext-115"/>
          <p:cNvSpPr txBox="1"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</a:t>
            </a:r>
            <a:endParaRPr lang="en-US" sz="4000" dirty="0"/>
          </a:p>
        </p:txBody>
      </p:sp>
      <p:sp>
        <p:nvSpPr>
          <p:cNvPr id="11" name="text-116"/>
          <p:cNvSpPr txBox="1"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</a:t>
            </a:r>
            <a:endParaRPr lang="en-US" sz="1200" dirty="0"/>
          </a:p>
        </p:txBody>
      </p:sp>
      <p:sp>
        <p:nvSpPr>
          <p:cNvPr id="12" name="card-117"/>
          <p:cNvSpPr/>
          <p:nvPr/>
        </p:nvSpPr>
        <p:spPr>
          <a:xfrm>
            <a:off x="676656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ext-118"/>
          <p:cNvSpPr txBox="1"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</a:t>
            </a:r>
            <a:endParaRPr lang="en-US" sz="4000" dirty="0"/>
          </a:p>
        </p:txBody>
      </p:sp>
      <p:sp>
        <p:nvSpPr>
          <p:cNvPr id="14" name="text-119"/>
          <p:cNvSpPr txBox="1"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patience</a:t>
            </a:r>
            <a:endParaRPr lang="en-US" sz="1200" dirty="0"/>
          </a:p>
        </p:txBody>
      </p:sp>
      <p:sp>
        <p:nvSpPr>
          <p:cNvPr id="15" name="text-120"/>
          <p:cNvSpPr txBox="1"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모델: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yolo11m-seg.yaml — 사전학습 가중치 없이 처음부터 학습 (.pt를 주면 파인튜닝)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데이터: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41이 만든 dataset/cobot_01_yolo_seg/dataset.yaml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기타: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device 0 (GPU), workers 8, seed 42, AMP 켜짐 (--no-amp로 끔), --cache로 이미지 캐시</a:t>
            </a:r>
            <a:endParaRPr lang="en-US" sz="1300" dirty="0"/>
          </a:p>
        </p:txBody>
      </p:sp>
      <p:sp>
        <p:nvSpPr>
          <p:cNvPr id="16" name="codeBg-121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7" name="code-122"/>
          <p:cNvSpPr txBox="1"/>
          <p:nvPr/>
        </p:nvSpPr>
        <p:spPr>
          <a:xfrm>
            <a:off x="594360" y="40690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42_train_cobot_road_type_yolo_sg.py --epochs 100 --batch 8 --device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중단·재개와 모델 저장</a:t>
            </a:r>
            <a:endParaRPr lang="en-US" sz="2600" dirty="0"/>
          </a:p>
        </p:txBody>
      </p:sp>
      <p:sp>
        <p:nvSpPr>
          <p:cNvPr id="3" name="card-123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text-124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중단하고 이어서 학습</a:t>
            </a:r>
            <a:endParaRPr lang="en-US" sz="1600" dirty="0"/>
          </a:p>
        </p:txBody>
      </p:sp>
      <p:sp>
        <p:nvSpPr>
          <p:cNvPr id="5" name="badge-125"/>
          <p:cNvSpPr/>
          <p:nvPr/>
        </p:nvSpPr>
        <p:spPr>
          <a:xfrm>
            <a:off x="640080" y="17830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badgeText-126"/>
          <p:cNvSpPr txBox="1"/>
          <p:nvPr/>
        </p:nvSpPr>
        <p:spPr>
          <a:xfrm>
            <a:off x="6400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127"/>
          <p:cNvSpPr txBox="1"/>
          <p:nvPr/>
        </p:nvSpPr>
        <p:spPr>
          <a:xfrm>
            <a:off x="1143000" y="16367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Ctrl-C → 재개 명령 안내 후 종료</a:t>
            </a:r>
            <a:endParaRPr lang="en-US" sz="1200" dirty="0"/>
          </a:p>
        </p:txBody>
      </p:sp>
      <p:sp>
        <p:nvSpPr>
          <p:cNvPr id="8" name="badge-128"/>
          <p:cNvSpPr/>
          <p:nvPr/>
        </p:nvSpPr>
        <p:spPr>
          <a:xfrm>
            <a:off x="640080" y="2468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badgeText-129"/>
          <p:cNvSpPr txBox="1"/>
          <p:nvPr/>
        </p:nvSpPr>
        <p:spPr>
          <a:xfrm>
            <a:off x="6400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-130"/>
          <p:cNvSpPr txBox="1"/>
          <p:nvPr/>
        </p:nvSpPr>
        <p:spPr>
          <a:xfrm>
            <a:off x="1143000" y="23225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--resume 지정 시 last.pt 탐색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(--resume-path가 있으면 우선)</a:t>
            </a:r>
            <a:endParaRPr lang="en-US" sz="1200" dirty="0"/>
          </a:p>
        </p:txBody>
      </p:sp>
      <p:sp>
        <p:nvSpPr>
          <p:cNvPr id="11" name="badge-131"/>
          <p:cNvSpPr/>
          <p:nvPr/>
        </p:nvSpPr>
        <p:spPr>
          <a:xfrm>
            <a:off x="640080" y="31546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badgeText-132"/>
          <p:cNvSpPr txBox="1"/>
          <p:nvPr/>
        </p:nvSpPr>
        <p:spPr>
          <a:xfrm>
            <a:off x="6400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133"/>
          <p:cNvSpPr txBox="1"/>
          <p:nvPr/>
        </p:nvSpPr>
        <p:spPr>
          <a:xfrm>
            <a:off x="1143000" y="30083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체크포인트가 없으면 새로 학습</a:t>
            </a:r>
            <a:endParaRPr lang="en-US" sz="1200" dirty="0"/>
          </a:p>
        </p:txBody>
      </p:sp>
      <p:sp>
        <p:nvSpPr>
          <p:cNvPr id="14" name="codeBg-134"/>
          <p:cNvSpPr/>
          <p:nvPr/>
        </p:nvSpPr>
        <p:spPr>
          <a:xfrm>
            <a:off x="640080" y="3840480"/>
            <a:ext cx="36118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5" name="code-135"/>
          <p:cNvSpPr txBox="1"/>
          <p:nvPr/>
        </p:nvSpPr>
        <p:spPr>
          <a:xfrm>
            <a:off x="77724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42_...py --resume --name cobot-road-seg</a:t>
            </a:r>
            <a:endParaRPr lang="en-US" sz="1000" dirty="0"/>
          </a:p>
        </p:txBody>
      </p:sp>
      <p:sp>
        <p:nvSpPr>
          <p:cNvPr id="16" name="card-136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7" name="text-137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학습 결과 저장 위치</a:t>
            </a:r>
            <a:endParaRPr lang="en-US" sz="1600" dirty="0"/>
          </a:p>
        </p:txBody>
      </p:sp>
      <p:sp>
        <p:nvSpPr>
          <p:cNvPr id="18" name="codeBg-138"/>
          <p:cNvSpPr/>
          <p:nvPr/>
        </p:nvSpPr>
        <p:spPr>
          <a:xfrm>
            <a:off x="4892040" y="1737360"/>
            <a:ext cx="3611880" cy="8229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9" name="code-139"/>
          <p:cNvSpPr txBox="1"/>
          <p:nvPr/>
        </p:nvSpPr>
        <p:spPr>
          <a:xfrm>
            <a:off x="502920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road/runs/cobot-road-seg/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weights/last.pt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weights/best.pt</a:t>
            </a:r>
            <a:endParaRPr lang="en-US" sz="1100" dirty="0"/>
          </a:p>
        </p:txBody>
      </p:sp>
      <p:sp>
        <p:nvSpPr>
          <p:cNvPr id="20" name="text-140"/>
          <p:cNvSpPr txBox="1"/>
          <p:nvPr/>
        </p:nvSpPr>
        <p:spPr>
          <a:xfrm>
            <a:off x="4892040" y="2651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↓ 학습 종료 후 best.pt 자동 복사</a:t>
            </a:r>
            <a:endParaRPr lang="en-US" sz="1200" dirty="0"/>
          </a:p>
        </p:txBody>
      </p:sp>
      <p:sp>
        <p:nvSpPr>
          <p:cNvPr id="21" name="codeBg-141"/>
          <p:cNvSpPr/>
          <p:nvPr/>
        </p:nvSpPr>
        <p:spPr>
          <a:xfrm>
            <a:off x="4892040" y="3063240"/>
            <a:ext cx="361188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22" name="code-142"/>
          <p:cNvSpPr txBox="1"/>
          <p:nvPr/>
        </p:nvSpPr>
        <p:spPr>
          <a:xfrm>
            <a:off x="5029200" y="3154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model/02-yolo11m-cobot-road-type-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sg-YYMMDD.pt</a:t>
            </a:r>
            <a:endParaRPr lang="en-US" sz="1100" dirty="0"/>
          </a:p>
        </p:txBody>
      </p:sp>
      <p:sp>
        <p:nvSpPr>
          <p:cNvPr id="23" name="text-143"/>
          <p:cNvSpPr txBox="1"/>
          <p:nvPr/>
        </p:nvSpPr>
        <p:spPr>
          <a:xfrm>
            <a:off x="4892040" y="3840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날짜 접미사로 이전 모델을 덮어쓰지 않음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학습 결과 예시: cobot-road-seg-4</a:t>
            </a:r>
            <a:endParaRPr lang="en-US" sz="2600" dirty="0"/>
          </a:p>
        </p:txBody>
      </p:sp>
      <p:pic>
        <p:nvPicPr>
          <p:cNvPr id="3" name="chart-144" descr="D:/Github/wcs/300_python/ai/road/training_progress_cobot-road-seg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349240" cy="3566160"/>
          </a:xfrm>
          <a:prstGeom prst="rect">
            <a:avLst/>
          </a:prstGeom>
        </p:spPr>
      </p:pic>
      <p:sp>
        <p:nvSpPr>
          <p:cNvPr id="4" name="card-145"/>
          <p:cNvSpPr/>
          <p:nvPr/>
        </p:nvSpPr>
        <p:spPr>
          <a:xfrm>
            <a:off x="6080760" y="100584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5" name="text-146"/>
          <p:cNvSpPr txBox="1"/>
          <p:nvPr/>
        </p:nvSpPr>
        <p:spPr>
          <a:xfrm>
            <a:off x="6217920" y="10058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0.94</a:t>
            </a:r>
            <a:endParaRPr lang="en-US" sz="2200" dirty="0"/>
          </a:p>
        </p:txBody>
      </p:sp>
      <p:sp>
        <p:nvSpPr>
          <p:cNvPr id="6" name="text-147"/>
          <p:cNvSpPr txBox="1"/>
          <p:nvPr/>
        </p:nvSpPr>
        <p:spPr>
          <a:xfrm>
            <a:off x="7406640" y="1005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mask precision</a:t>
            </a:r>
            <a:endParaRPr lang="en-US" sz="1100" dirty="0"/>
          </a:p>
        </p:txBody>
      </p:sp>
      <p:sp>
        <p:nvSpPr>
          <p:cNvPr id="7" name="card-148"/>
          <p:cNvSpPr/>
          <p:nvPr/>
        </p:nvSpPr>
        <p:spPr>
          <a:xfrm>
            <a:off x="6080760" y="192024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8" name="text-149"/>
          <p:cNvSpPr txBox="1"/>
          <p:nvPr/>
        </p:nvSpPr>
        <p:spPr>
          <a:xfrm>
            <a:off x="62179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0.70</a:t>
            </a:r>
            <a:endParaRPr lang="en-US" sz="2200" dirty="0"/>
          </a:p>
        </p:txBody>
      </p:sp>
      <p:sp>
        <p:nvSpPr>
          <p:cNvPr id="9" name="text-150"/>
          <p:cNvSpPr txBox="1"/>
          <p:nvPr/>
        </p:nvSpPr>
        <p:spPr>
          <a:xfrm>
            <a:off x="740664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mask mAP50</a:t>
            </a:r>
            <a:endParaRPr lang="en-US" sz="1100" dirty="0"/>
          </a:p>
        </p:txBody>
      </p:sp>
      <p:sp>
        <p:nvSpPr>
          <p:cNvPr id="10" name="card-151"/>
          <p:cNvSpPr/>
          <p:nvPr/>
        </p:nvSpPr>
        <p:spPr>
          <a:xfrm>
            <a:off x="6080760" y="283464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text-152"/>
          <p:cNvSpPr txBox="1"/>
          <p:nvPr/>
        </p:nvSpPr>
        <p:spPr>
          <a:xfrm>
            <a:off x="6217920" y="2834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0.65</a:t>
            </a:r>
            <a:endParaRPr lang="en-US" sz="2200" dirty="0"/>
          </a:p>
        </p:txBody>
      </p:sp>
      <p:sp>
        <p:nvSpPr>
          <p:cNvPr id="12" name="text-153"/>
          <p:cNvSpPr txBox="1"/>
          <p:nvPr/>
        </p:nvSpPr>
        <p:spPr>
          <a:xfrm>
            <a:off x="7406640" y="2834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mask mAP50-95</a:t>
            </a:r>
            <a:endParaRPr lang="en-US" sz="1100" dirty="0"/>
          </a:p>
        </p:txBody>
      </p:sp>
      <p:sp>
        <p:nvSpPr>
          <p:cNvPr id="13" name="text-154"/>
          <p:cNvSpPr txBox="1"/>
          <p:nvPr/>
        </p:nvSpPr>
        <p:spPr>
          <a:xfrm>
            <a:off x="608076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epoch 시점, 그래프에서 읽은 근사값. 손실은 2 epoch 이후 완만히 감소 중이며 아직 수렴 전.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운영 시 주의사항</a:t>
            </a:r>
            <a:endParaRPr lang="en-US" sz="2600" dirty="0"/>
          </a:p>
        </p:txBody>
      </p:sp>
      <p:sp>
        <p:nvSpPr>
          <p:cNvPr id="3" name="badge-155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adgeText-156"/>
          <p:cNvSpPr txBox="1"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157"/>
          <p:cNvSpPr txBox="1"/>
          <p:nvPr/>
        </p:nvSpPr>
        <p:spPr>
          <a:xfrm>
            <a:off x="10515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라벨 품질 상한</a:t>
            </a:r>
            <a:endParaRPr lang="en-US" sz="1600" dirty="0"/>
          </a:p>
        </p:txBody>
      </p:sp>
      <p:sp>
        <p:nvSpPr>
          <p:cNvPr id="6" name="text-158"/>
          <p:cNvSpPr txBox="1"/>
          <p:nvPr/>
        </p:nvSpPr>
        <p:spPr>
          <a:xfrm>
            <a:off x="105156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자동 라벨이라 01 도로 모델의 오류가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그대로 학습 데이터에 들어간다.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masks/ 폴더로 표본 검수 권장.</a:t>
            </a:r>
            <a:endParaRPr lang="en-US" sz="1200" dirty="0"/>
          </a:p>
        </p:txBody>
      </p:sp>
      <p:sp>
        <p:nvSpPr>
          <p:cNvPr id="7" name="badge-159"/>
          <p:cNvSpPr/>
          <p:nvPr/>
        </p:nvSpPr>
        <p:spPr>
          <a:xfrm>
            <a:off x="466344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badgeText-160"/>
          <p:cNvSpPr txBox="1"/>
          <p:nvPr/>
        </p:nvSpPr>
        <p:spPr>
          <a:xfrm>
            <a:off x="46634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161"/>
          <p:cNvSpPr txBox="1"/>
          <p:nvPr/>
        </p:nvSpPr>
        <p:spPr>
          <a:xfrm>
            <a:off x="51663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데이터 누수</a:t>
            </a:r>
            <a:endParaRPr lang="en-US" sz="1600" dirty="0"/>
          </a:p>
        </p:txBody>
      </p:sp>
      <p:sp>
        <p:nvSpPr>
          <p:cNvPr id="10" name="text-162"/>
          <p:cNvSpPr txBox="1"/>
          <p:nvPr/>
        </p:nvSpPr>
        <p:spPr>
          <a:xfrm>
            <a:off x="516636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split 접미사가 없으면 프레임 단위 분할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인접 프레임이 train·val에 섞여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검증 점수가 과대평가된다.</a:t>
            </a:r>
            <a:endParaRPr lang="en-US" sz="1200" dirty="0"/>
          </a:p>
        </p:txBody>
      </p:sp>
      <p:sp>
        <p:nvSpPr>
          <p:cNvPr id="11" name="badge-163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badgeText-164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165"/>
          <p:cNvSpPr txBox="1"/>
          <p:nvPr/>
        </p:nvSpPr>
        <p:spPr>
          <a:xfrm>
            <a:off x="10515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출력 폴더 초기화</a:t>
            </a:r>
            <a:endParaRPr lang="en-US" sz="1600" dirty="0"/>
          </a:p>
        </p:txBody>
      </p:sp>
      <p:sp>
        <p:nvSpPr>
          <p:cNvPr id="14" name="text-166"/>
          <p:cNvSpPr txBox="1"/>
          <p:nvPr/>
        </p:nvSpPr>
        <p:spPr>
          <a:xfrm>
            <a:off x="1051560" y="3520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41은 실행 때마다 cobot_01_yolo_seg/를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통째로 삭제한다.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검수한 결과는 따로 보관할 것.</a:t>
            </a:r>
            <a:endParaRPr lang="en-US" sz="1200" dirty="0"/>
          </a:p>
        </p:txBody>
      </p:sp>
      <p:sp>
        <p:nvSpPr>
          <p:cNvPr id="15" name="badge-167"/>
          <p:cNvSpPr/>
          <p:nvPr/>
        </p:nvSpPr>
        <p:spPr>
          <a:xfrm>
            <a:off x="4663440" y="3063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adgeText-168"/>
          <p:cNvSpPr txBox="1"/>
          <p:nvPr/>
        </p:nvSpPr>
        <p:spPr>
          <a:xfrm>
            <a:off x="46634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169"/>
          <p:cNvSpPr txBox="1"/>
          <p:nvPr/>
        </p:nvSpPr>
        <p:spPr>
          <a:xfrm>
            <a:off x="51663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디코딩 실패</a:t>
            </a:r>
            <a:endParaRPr lang="en-US" sz="1600" dirty="0"/>
          </a:p>
        </p:txBody>
      </p:sp>
      <p:sp>
        <p:nvSpPr>
          <p:cNvPr id="18" name="text-170"/>
          <p:cNvSpPr txBox="1"/>
          <p:nvPr/>
        </p:nvSpPr>
        <p:spPr>
          <a:xfrm>
            <a:off x="5166360" y="3520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읽지 못한 프레임은 건너뛰고,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종료 시 영상별 실패 구간을 출력한다.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phalt Lane">
  <a:themeElements>
    <a:clrScheme name="Asphalt Lane">
      <a:dk1>
        <a:srgbClr val="1F2124"/>
      </a:dk1>
      <a:lt1>
        <a:srgbClr val="FFFFFF"/>
      </a:lt1>
      <a:dk2>
        <a:srgbClr val="2B2E33"/>
      </a:dk2>
      <a:lt2>
        <a:srgbClr val="F1F2F4"/>
      </a:lt2>
      <a:accent1>
        <a:srgbClr val="F2B807"/>
      </a:accent1>
      <a:accent2>
        <a:srgbClr val="2E7D6B"/>
      </a:accent2>
      <a:accent3>
        <a:srgbClr val="5B6470"/>
      </a:accent3>
      <a:accent4>
        <a:srgbClr val="C8553D"/>
      </a:accent4>
      <a:accent5>
        <a:srgbClr val="8FA3B8"/>
      </a:accent5>
      <a:accent6>
        <a:srgbClr val="E9C46A"/>
      </a:accent6>
      <a:hlink>
        <a:srgbClr val="2E7D6B"/>
      </a:hlink>
      <a:folHlink>
        <a:srgbClr val="5B6470"/>
      </a:folHlink>
    </a:clrScheme>
    <a:fontScheme name="Asphalt Lan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코봇 도로 유형 YOLO 데이터 준비와 학습</dc:title>
  <dc:subject>PptxGenJS Presentation</dc:subject>
  <dc:creator>PptxGenJS</dc:creator>
  <cp:lastModifiedBy>PptxGenJS</cp:lastModifiedBy>
  <cp:revision>1</cp:revision>
  <dcterms:created xsi:type="dcterms:W3CDTF">2026-10-20T06:27:20Z</dcterms:created>
  <dcterms:modified xsi:type="dcterms:W3CDTF">2026-10-20T06:27:20Z</dcterms:modified>
</cp:coreProperties>
</file>